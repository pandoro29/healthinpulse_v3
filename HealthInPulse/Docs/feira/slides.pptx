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423085fa-e94b-7b4e-8f0e-08a5ad8bd51b}">
          <p14:sldIdLst>
            <p14:sldId id="256"/>
          </p14:sldIdLst>
        </p14:section>
        <p14:section name="Problema" id="{88cb2771-e419-6f17-dee5-51d4d8a2a28c}">
          <p14:sldIdLst>
            <p14:sldId id="257"/>
          </p14:sldIdLst>
        </p14:section>
        <p14:section name="Proposta" id="{7510d9d3-124f-def0-81ff-f973ba025c4a}">
          <p14:sldIdLst>
            <p14:sldId id="258"/>
          </p14:sldIdLst>
        </p14:section>
        <p14:section name="Como funciona" id="{884f7b98-c009-0fa8-7c22-2dbee7d709f3}">
          <p14:sldIdLst>
            <p14:sldId id="259"/>
          </p14:sldIdLst>
        </p14:section>
        <p14:section name="Demonstração" id="{c73d1047-e062-b5e0-8763-4fe139c184fd}">
          <p14:sldIdLst>
            <p14:sldId id="260"/>
            <p14:sldId id="261"/>
            <p14:sldId id="262"/>
          </p14:sldIdLst>
        </p14:section>
        <p14:section name="Base da IA" id="{cf8f482e-2333-f795-0c1c-124b6702df57}">
          <p14:sldIdLst>
            <p14:sldId id="263"/>
          </p14:sldIdLst>
        </p14:section>
        <p14:section name="Fecho" id="{f93b621f-ef02-124b-26d1-e9901ea6c6dd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3F7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3F7E"/>
                </a:solidFill>
                <a:latin typeface="+mn-lt"/>
              </a:rPr>
              <a:t>Quanto cada pista multiplica a chance (LR+)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LR+</c:v>
                </c:pt>
              </c:strCache>
            </c:strRef>
          </c:tx>
          <c:spPr>
            <a:solidFill>
              <a:srgbClr val="00A0DC"/>
            </a:solidFill>
            <a:effectLst/>
          </c:spPr>
          <c:invertIfNegative val="0"/>
          <c:dLbls>
            <c:numFmt formatCode="&quot;×&quot;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Mudança do hábito intestinal</c:v>
                  </c:pt>
                  <c:pt idx="1">
                    <c:v>Perda de 9,5% do peso (balança)</c:v>
                  </c:pt>
                  <c:pt idx="2">
                    <c:v>Anemia, Hb 10,9 g/dL</c:v>
                  </c:pt>
                  <c:pt idx="3">
                    <c:v>Sangue oculto nas fezes (FIT)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3.9</c:v>
                </c:pt>
                <c:pt idx="1">
                  <c:v>5.1</c:v>
                </c:pt>
                <c:pt idx="2">
                  <c:v>5.2</c:v>
                </c:pt>
                <c:pt idx="3">
                  <c:v>13.2</c:v>
                </c:pt>
              </c:numCache>
            </c:numRef>
          </c:val>
        </c:ser>
        <c:dLbls>
          <c:numFmt formatCode="&quot;×&quot;0.0" sourceLinked="0"/>
          <c:txPr>
            <a:bodyPr/>
            <a:lstStyle/>
            <a:p>
              <a:pPr>
                <a:defRPr b="0" i="0" strike="noStrike" sz="14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Pitch de 30 s: Você sabe quais exames preventivos cabem na sua idade, e se está dentro do normal? Quase ninguém sabe. O HealthInPulse é o app de prevenção ligado à pulseira e à balança da Care Plus. Ele compara os seus dados com os padrões normais da medicina, do Guyton &amp; Hall e de diretrizes oficiais, e diz o próximo passo: manter a rotina, agendar uma consulta ou procurar atendimento agora. E mostra os exames preventivos da sua idade e metas com fonte. Não é diagnóstico. O teste leva dois minutos e nada é gravado. Para o visitante: nada de doença, órgão, risco ou porcentagem.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Exame preventivo na idade certa faz diferença, mas cada exame tem idade e público, e as regras mudaram: em 2025 a mamografia foi ampliada para 50 a 74 anos e o DNA-HPV virou o exame principal no lugar do papanicolau; em 2026 o SUS passou a oferecer o teste de sangue oculto nas fezes dos 50 aos 75. A tomografia de baixa dose é recomendação do consenso de 2024, só para quem fumou muito, ainda fora do SUS. PSA: o Ministério da Saúde não recomenda para todos os homens; é decisão com o médico. Para o visitante, fale do exame e da idade, não da doença que ele previne. Fonte: Docs/base-clinica-oncologia.md.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app é de prevenção de uma operadora de saúde. O paciente nunca ouve que tem, ou pode ter, uma doença: é ética da empresa. Ele recebe o próximo passo, como está em relação ao padrão normal, os exames preventivos da idade e metas com fonte. O filtro é no servidor: a resposta da API do paciente não leva nome nem probabilidade de doença. Quem recebe a avaliação de risco é a médica, que sabe interpretar e conversar. Credibilidade: tudo vem de fonte forte e documentada, com o Guyton &amp; Hall como base principal e diretrizes oficiais no mesmo nível.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Isto é a tela da médica; o paciente e o visitante recebem só o próximo passo. Raciocínio bayesiano: a mesma lógica de um médico, com a conta à mostra. Ponto de partida: chance em 2 anos para a idade e o sexo, a mesma definição dos estudos CAPER que embasam o NICE. Cada pista multiplica a chance; a força vem de estudos publicados. Limites: 3% investigar (NICE NG12); 1% ou 2 vezes a média, atenção. A próxima pergunta é a que mais muda o resultado, por isso o teste é curto.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logins não ficam no site: a tela de login abre vazia e não tem mais os cards de demonstração. Este slide é o lugar das senhas da demo. Errou a senha: o usuário continua digitado, só a senha é limpa. A médica não se cadastra: usa a conta ana. No Render a Base da IA é só leitura (KB_EDIT=false); a edição é no notebook do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Conferir na tela do paciente o texto do próximo passo antes de citar. Demo: login da médica (usuário ana, slide 5), paciente Roberto, painel de riscos. Para a idade dele, a chance de câncer de intestino em 2 anos é cerca de 2 em 1.000 (0,157%). A balança registrou 84 para 76 kg em 90 dias, o hemograma tem anemia (Hb 10,9), o FIT deu positivo e ele contou que o intestino mudou. O risco passa de 20%: INVESTIGAR. Com 35 maços-ano e 8 anos sem fumar, também a TC de pulmão de baixa dose. Se perguntarem pelo número: a conta pura passa de 40% (45 a 68%, conforme as respostas), mas a tela mostra "≥ 20%" porque FIT e anemia andam juntos e o Naive Bayes superestima pistas correlacionadas. Conferir os números na tela antes da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Tela da médica: no app de cada um, o paciente vê só o próximo passo, o padrão normal, os exames preventivos e as metas. Pacientes fictícios do seed. Marina: 2,2 vezes a média pela mãe (Collaborative Group 2001); rastreamento de alto risco a partir de 10 anos antes do caso mais jovem (CBR/SBM/Febrasgo 2023). João: FIT a cada 2 anos dos 50 aos 75 (INCA 2026); PSA em decisão compartilhada (Nota Técnica 9/2023). João: STOP-Bang 6 (Chung 2016) e FINDRISC 23 (SBD 2025), PHQ-2 negativo; a médica recebe o alerta. Cada persona é também um teste automático.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Separar dados (mudam com a ciência) de lógica (como calcular, coberta por testes). Demo: Base da IA, FIT positivo, mudar o valor, voltar ao Roberto e ver o risco mudar, depois Restaurar padrão. No site público a edição fica desligada (KB_EDIT=false).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Fecho: não é diagnóstico e não foi calibrado com dados reais; declaramos os limites na tela. O paciente e o visitante recebem prevenção (próximo passo, padrão normal, exames preventivos, metas); o risco fica com a médica. O próximo passo seria validar com dados reais. Se quiserem testar, o QR está aqui e no banner: dois minutos, nada é gravado.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_ESCURO">
    <p:bg>
      <p:bgPr>
        <a:solidFill>
          <a:srgbClr val="003F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9692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HealthInPulse v8 · FIAP × Care Plus · projeto acadêmico, não é diagnóstico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_ESCURO">
    <p:bg>
      <p:bgPr>
        <a:solidFill>
          <a:srgbClr val="003F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HealthInPulse v8 · FIAP × Care Plus · projeto acadêmico, não é diagnóstico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4E3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FEIRA · SÁBADO, 24/10/2026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HealthInPulse v8</a:t>
            </a:r>
            <a:endParaRPr lang="en-US" sz="6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15468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Um app de prevenção: compara você com os padrões normais da medicina, mostra o próximo passo e os exames preventivos da sua idade</a:t>
            </a:r>
            <a:endParaRPr lang="en-US" sz="2400" dirty="0"/>
          </a:p>
        </p:txBody>
      </p:sp>
      <p:sp>
        <p:nvSpPr>
          <p:cNvPr id="5" name="fato-1"/>
          <p:cNvSpPr/>
          <p:nvPr/>
        </p:nvSpPr>
        <p:spPr>
          <a:xfrm>
            <a:off x="731520" y="47091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4800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4800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próximos passos: manter a rotina, agendar consulta ou atendimento agora</a:t>
            </a:r>
            <a:endParaRPr lang="en-US" sz="1400" dirty="0"/>
          </a:p>
        </p:txBody>
      </p:sp>
      <p:sp>
        <p:nvSpPr>
          <p:cNvPr id="8" name="fato-2"/>
          <p:cNvSpPr/>
          <p:nvPr/>
        </p:nvSpPr>
        <p:spPr>
          <a:xfrm>
            <a:off x="4389120" y="47091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63440" y="4800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5+3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4800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cânceres e escores validados, só na tela da médica</a:t>
            </a:r>
            <a:endParaRPr lang="en-US" sz="1400" dirty="0"/>
          </a:p>
        </p:txBody>
      </p:sp>
      <p:sp>
        <p:nvSpPr>
          <p:cNvPr id="11" name="fato-3"/>
          <p:cNvSpPr/>
          <p:nvPr/>
        </p:nvSpPr>
        <p:spPr>
          <a:xfrm>
            <a:off x="8046720" y="4709160"/>
            <a:ext cx="3383280" cy="1371600"/>
          </a:xfrm>
          <a:prstGeom prst="roundRect">
            <a:avLst>
              <a:gd name="adj" fmla="val 8000"/>
            </a:avLst>
          </a:prstGeom>
          <a:solidFill>
            <a:schemeClr val="bg1">
              <a:alpha val="12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0" y="48006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9464040" y="48006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dados gravados no teste do visitante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Cada exame preventivo tem idade e público certos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E três dessas regras mudaram em 2025 e 2026. A maioria das pessoas não sabe quais valem para ela.</a:t>
            </a:r>
            <a:endParaRPr lang="en-US" sz="1800" dirty="0"/>
          </a:p>
        </p:txBody>
      </p:sp>
      <p:sp>
        <p:nvSpPr>
          <p:cNvPr id="4" name="card-1"/>
          <p:cNvSpPr/>
          <p:nvPr/>
        </p:nvSpPr>
        <p:spPr>
          <a:xfrm>
            <a:off x="457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Mamografia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50–74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cada 2 anos, mulheres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46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Ministério da Saúde, 2025</a:t>
            </a:r>
            <a:endParaRPr lang="en-US" sz="1100" dirty="0"/>
          </a:p>
        </p:txBody>
      </p:sp>
      <p:sp>
        <p:nvSpPr>
          <p:cNvPr id="10" name="selo-1"/>
          <p:cNvSpPr/>
          <p:nvPr/>
        </p:nvSpPr>
        <p:spPr>
          <a:xfrm>
            <a:off x="640080" y="553212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5532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</a:rPr>
              <a:t>NOVO EM 2025</a:t>
            </a:r>
            <a:endParaRPr lang="en-US" sz="1100" dirty="0"/>
          </a:p>
        </p:txBody>
      </p:sp>
      <p:sp>
        <p:nvSpPr>
          <p:cNvPr id="12" name="card-2"/>
          <p:cNvSpPr/>
          <p:nvPr/>
        </p:nvSpPr>
        <p:spPr>
          <a:xfrm>
            <a:off x="2743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DNA-HPV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25–64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cada 5 anos, mulheres (ou papanicolau)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846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Portaria SAES/SECTICS nº 13, 2025</a:t>
            </a:r>
            <a:endParaRPr lang="en-US" sz="1100" dirty="0"/>
          </a:p>
        </p:txBody>
      </p:sp>
      <p:sp>
        <p:nvSpPr>
          <p:cNvPr id="18" name="selo-2"/>
          <p:cNvSpPr/>
          <p:nvPr/>
        </p:nvSpPr>
        <p:spPr>
          <a:xfrm>
            <a:off x="2926080" y="553212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926080" y="5532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</a:rPr>
              <a:t>NOVO EM 2025</a:t>
            </a:r>
            <a:endParaRPr lang="en-US" sz="1100" dirty="0"/>
          </a:p>
        </p:txBody>
      </p:sp>
      <p:sp>
        <p:nvSpPr>
          <p:cNvPr id="20" name="card-3"/>
          <p:cNvSpPr/>
          <p:nvPr/>
        </p:nvSpPr>
        <p:spPr>
          <a:xfrm>
            <a:off x="5029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120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Sangue oculto nas fezes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50–75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cada 2 anos, no SUS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4846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INCA, 2026</a:t>
            </a:r>
            <a:endParaRPr lang="en-US" sz="1100" dirty="0"/>
          </a:p>
        </p:txBody>
      </p:sp>
      <p:sp>
        <p:nvSpPr>
          <p:cNvPr id="26" name="selo-3"/>
          <p:cNvSpPr/>
          <p:nvPr/>
        </p:nvSpPr>
        <p:spPr>
          <a:xfrm>
            <a:off x="5212080" y="553212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212080" y="55321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00000"/>
                </a:solidFill>
              </a:rPr>
              <a:t>NOVO EM 2026</a:t>
            </a:r>
            <a:endParaRPr lang="en-US" sz="1100" dirty="0"/>
          </a:p>
        </p:txBody>
      </p:sp>
      <p:sp>
        <p:nvSpPr>
          <p:cNvPr id="28" name="card-4"/>
          <p:cNvSpPr/>
          <p:nvPr/>
        </p:nvSpPr>
        <p:spPr>
          <a:xfrm>
            <a:off x="7315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 de baixa dose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50–80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anos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todo ano, para quem fumou ≥ 20 maços-ano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4846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Consenso SBCT/SBPT/CBR, 2024</a:t>
            </a:r>
            <a:endParaRPr lang="en-US" sz="1100" dirty="0"/>
          </a:p>
        </p:txBody>
      </p:sp>
      <p:sp>
        <p:nvSpPr>
          <p:cNvPr id="34" name="card-5"/>
          <p:cNvSpPr/>
          <p:nvPr/>
        </p:nvSpPr>
        <p:spPr>
          <a:xfrm>
            <a:off x="9601200" y="1783080"/>
            <a:ext cx="2103120" cy="43434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84080" y="1965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9784080" y="2651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</a:t>
            </a:r>
            <a:endParaRPr lang="en-US" sz="2800" dirty="0"/>
          </a:p>
        </p:txBody>
      </p:sp>
      <p:sp>
        <p:nvSpPr>
          <p:cNvPr id="37" name="Text 35"/>
          <p:cNvSpPr txBox="1"/>
          <p:nvPr/>
        </p:nvSpPr>
        <p:spPr>
          <a:xfrm>
            <a:off x="9784080" y="3291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compartilhada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784080" y="37490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homens: conversar com o médico antes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9784080" y="48463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MS/INCA, Nota Técnica 9/2023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 paciente vê prevenção. A médica vê o risco.</a:t>
            </a:r>
            <a:endParaRPr lang="en-US" sz="3400" dirty="0"/>
          </a:p>
        </p:txBody>
      </p:sp>
      <p:sp>
        <p:nvSpPr>
          <p:cNvPr id="3" name="card-paciente"/>
          <p:cNvSpPr/>
          <p:nvPr/>
        </p:nvSpPr>
        <p:spPr>
          <a:xfrm>
            <a:off x="457200" y="128016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O PACIENTE E O VISITANTE VEEM</a:t>
            </a:r>
            <a:endParaRPr lang="en-US" sz="1200" dirty="0"/>
          </a:p>
        </p:txBody>
      </p:sp>
      <p:sp>
        <p:nvSpPr>
          <p:cNvPr id="5" name="ve-num-1"/>
          <p:cNvSpPr/>
          <p:nvPr/>
        </p:nvSpPr>
        <p:spPr>
          <a:xfrm>
            <a:off x="685800" y="186537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2880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Próximo passo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Manter a rotina, agendar consulta ou procurar atendimento agora (SAMU 192, CVV 188).</a:t>
            </a:r>
            <a:endParaRPr lang="en-US" sz="1600" dirty="0"/>
          </a:p>
        </p:txBody>
      </p:sp>
      <p:sp>
        <p:nvSpPr>
          <p:cNvPr id="8" name="ve-num-2"/>
          <p:cNvSpPr/>
          <p:nvPr/>
        </p:nvSpPr>
        <p:spPr>
          <a:xfrm>
            <a:off x="685800" y="259689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6032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Padrão normal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Ex.: frequência cardíaca de repouso acima da faixa normal (60–100 bpm).</a:t>
            </a:r>
            <a:endParaRPr lang="en-US" sz="1600" dirty="0"/>
          </a:p>
        </p:txBody>
      </p:sp>
      <p:sp>
        <p:nvSpPr>
          <p:cNvPr id="11" name="ve-num-3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328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2918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Exames preventivos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Os da idade e do sexo, pelo nome, sem dizer o que previnem.</a:t>
            </a:r>
            <a:endParaRPr lang="en-US" sz="1600" dirty="0"/>
          </a:p>
        </p:txBody>
      </p:sp>
      <p:sp>
        <p:nvSpPr>
          <p:cNvPr id="14" name="ve-num-4"/>
          <p:cNvSpPr/>
          <p:nvPr/>
        </p:nvSpPr>
        <p:spPr>
          <a:xfrm>
            <a:off x="685800" y="40599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4059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402336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Metas com fonte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Parar de fumar; 150 min de atividade por semana (OMS).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F7E"/>
                </a:solidFill>
              </a:rPr>
              <a:t>Nunca: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doença, órgão, "risco de" ou porcentagem.</a:t>
            </a:r>
            <a:endParaRPr lang="en-US" sz="1300" dirty="0"/>
          </a:p>
        </p:txBody>
      </p:sp>
      <p:sp>
        <p:nvSpPr>
          <p:cNvPr id="18" name="card-medica"/>
          <p:cNvSpPr/>
          <p:nvPr/>
        </p:nvSpPr>
        <p:spPr>
          <a:xfrm>
            <a:off x="6263640" y="128016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E6F7FD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146304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5"/>
                </a:solidFill>
              </a:rPr>
              <a:t>A MÉDICA VÊ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187452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Risco de 5 cânceres e 3 escores validados (STOP-Bang, FINDRISC, PHQ-9), com o porquê e a fonte.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Ex.: "risco de câncer colorretal nos próximos 2 anos", sempre como triagem de risco, não diagnóstico.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 alerta de INVESTIGAR e a Base da IA, que ela pode editar.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Quem conversa sobre risco com o paciente é ela, na consulta.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4864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De onde vêm os números: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Guyton &amp; Hall, Tratado de Fisiologia Médica (base principal) · INCA · OMS · Ministério da Saúde · NICE · SBC · SBD. Toda fonte é documentada; número sem fonte sai do motor.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o-tela-medica"/>
          <p:cNvSpPr/>
          <p:nvPr/>
        </p:nvSpPr>
        <p:spPr>
          <a:xfrm>
            <a:off x="457200" y="914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</a:rPr>
              <a:t>TELA DA MÉDICA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Como a IA estima o risco para a médica</a:t>
            </a:r>
            <a:endParaRPr lang="en-US" sz="3400" dirty="0"/>
          </a:p>
        </p:txBody>
      </p:sp>
      <p:sp>
        <p:nvSpPr>
          <p:cNvPr id="5" name="passo-1"/>
          <p:cNvSpPr/>
          <p:nvPr/>
        </p:nvSpPr>
        <p:spPr>
          <a:xfrm>
            <a:off x="45720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num-1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Começa pela média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Chance de alguém da mesma idade e sexo receber o diagnóstico em 2 anos. INCA (Estimativa 2026) e GLOBOCAN 2022 Brasil.</a:t>
            </a:r>
            <a:endParaRPr lang="en-US" sz="1400" dirty="0"/>
          </a:p>
        </p:txBody>
      </p:sp>
      <p:sp>
        <p:nvSpPr>
          <p:cNvPr id="10" name="passo-2"/>
          <p:cNvSpPr/>
          <p:nvPr/>
        </p:nvSpPr>
        <p:spPr>
          <a:xfrm>
            <a:off x="432054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num-2"/>
          <p:cNvSpPr/>
          <p:nvPr/>
        </p:nvSpPr>
        <p:spPr>
          <a:xfrm>
            <a:off x="454914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91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4914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pista multiplica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4914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Sintomas, exames e a balança mudam a chance. A força (LR) vem de estudos: FIT positivo ×13, nódulo na mama ×55.</a:t>
            </a:r>
            <a:endParaRPr lang="en-US" sz="1400" dirty="0"/>
          </a:p>
        </p:txBody>
      </p:sp>
      <p:sp>
        <p:nvSpPr>
          <p:cNvPr id="15" name="passo-3"/>
          <p:cNvSpPr/>
          <p:nvPr/>
        </p:nvSpPr>
        <p:spPr>
          <a:xfrm>
            <a:off x="8183880" y="1325880"/>
            <a:ext cx="35204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num-3"/>
          <p:cNvSpPr/>
          <p:nvPr/>
        </p:nvSpPr>
        <p:spPr>
          <a:xfrm>
            <a:off x="841248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 com limites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0604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 resultado vira uma categoria. O limite de 3% para investigar é o da diretriz NICE NG12.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Categorias que a médica vê (nunca em vermelho)</a:t>
            </a:r>
            <a:endParaRPr lang="en-US" sz="1400" dirty="0"/>
          </a:p>
        </p:txBody>
      </p:sp>
      <p:sp>
        <p:nvSpPr>
          <p:cNvPr id="21" name="nivel-1"/>
          <p:cNvSpPr/>
          <p:nvPr/>
        </p:nvSpPr>
        <p:spPr>
          <a:xfrm>
            <a:off x="457200" y="4343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</a:rPr>
              <a:t>ROTINA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 resto: &lt; 1% e &lt; 2× a média</a:t>
            </a:r>
            <a:endParaRPr lang="en-US" sz="1800" dirty="0"/>
          </a:p>
        </p:txBody>
      </p:sp>
      <p:sp>
        <p:nvSpPr>
          <p:cNvPr id="23" name="nivel-2"/>
          <p:cNvSpPr/>
          <p:nvPr/>
        </p:nvSpPr>
        <p:spPr>
          <a:xfrm>
            <a:off x="4320540" y="4343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4914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</a:rPr>
              <a:t>ATENÇÃO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≥ 1% ou 2× a média da idade</a:t>
            </a:r>
            <a:endParaRPr lang="en-US" sz="1800" dirty="0"/>
          </a:p>
        </p:txBody>
      </p:sp>
      <p:sp>
        <p:nvSpPr>
          <p:cNvPr id="25" name="nivel-3"/>
          <p:cNvSpPr/>
          <p:nvPr/>
        </p:nvSpPr>
        <p:spPr>
          <a:xfrm>
            <a:off x="8183880" y="434340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FEDD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0" y="43434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INVESTIGAR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≥ 3%: procure avaliação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440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A conta: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logit(chance final) = logit(chance de partida) + Σ ln(LR de cada pista).  </a:t>
            </a:r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Próxima pergunta: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 que mais muda o risco (Σ |ln LR| ÷ custo).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Logins da demo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A tela de login abre vazia: digite o usuário (não é e-mail) e a senha. Contas fictícias.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74320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Quem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Usuário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Senha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Dra. Ana Beatriz Souza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</a:rPr>
                        <a:t>médica · painel de riscos e Base da IA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Doctor@123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Roberto Alves Pereira, 63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</a:rPr>
                        <a:t>paciente · o caso da demonstração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roberto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Roberto@123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João Carlos Mendes, 58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</a:rPr>
                        <a:t>paciente · triagem ao vivo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joao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Joao@123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F172A"/>
                          </a:solidFill>
                        </a:rPr>
                        <a:t>Marina Azevedo Lima, 34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</a:rPr>
                        <a:t>paciente · história da família</a:t>
                      </a:r>
                      <a:endParaRPr lang="en-US" sz="12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marina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600" b="1" dirty="0">
                          <a:solidFill>
                            <a:srgbClr val="003F7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Marina@123</a:t>
                      </a:r>
                      <a:endParaRPr lang="en-US" sz="2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3F7E"/>
                </a:solidFill>
              </a:rPr>
              <a:t>Médica e paciente em janelas separadas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(uma anônima): o login fica guardado no navegador e um derruba o outro.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3F7E"/>
                </a:solidFill>
              </a:rPr>
              <a:t>Paciente novo: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"Cadastre-se" com usuário, nome e senha. Entra direto na triagem e fica ligado à Dra. Ana.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o-tela-medica"/>
          <p:cNvSpPr/>
          <p:nvPr/>
        </p:nvSpPr>
        <p:spPr>
          <a:xfrm>
            <a:off x="457200" y="914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</a:rPr>
              <a:t>TELA DA MÉDICA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Sr. Roberto, 63: de 2 em 1.000 para INVESTIGAR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Ex-fumante (35 maços-ano, parou há 8 anos). Contou que o intestino mudou e anda cansado.</a:t>
            </a:r>
            <a:endParaRPr lang="en-US" sz="1600" dirty="0"/>
          </a:p>
        </p:txBody>
      </p:sp>
      <p:sp>
        <p:nvSpPr>
          <p:cNvPr id="6" name="card-numeros"/>
          <p:cNvSpPr/>
          <p:nvPr/>
        </p:nvSpPr>
        <p:spPr>
          <a:xfrm>
            <a:off x="457200" y="1737360"/>
            <a:ext cx="420624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0,16%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média de homens de 60–64 anos em 2 anos (~2 em 1.000)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20%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 as pistas: mais de 1 em 5</a:t>
            </a:r>
            <a:endParaRPr lang="en-US" sz="1400" dirty="0"/>
          </a:p>
        </p:txBody>
      </p:sp>
      <p:sp>
        <p:nvSpPr>
          <p:cNvPr id="11" name="selo-roberto"/>
          <p:cNvSpPr/>
          <p:nvPr/>
        </p:nvSpPr>
        <p:spPr>
          <a:xfrm>
            <a:off x="731520" y="452628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4526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</a:rPr>
              <a:t>COLORRETAL · INVESTIGAR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937760" y="1737360"/>
          <a:ext cx="67665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937760" y="48463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Fontes: Lee 2014 (FIT, 19 estudos); Hamilton 2005 (CAPER colorretal, 349 casos). Prior: GLOBOCAN 2022 calibrado pelo INCA 2026.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Para a médica: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avaliação com colonoscopia. Como ex-fumante, também a TC de pulmão de baixa dose (consenso 2024).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No app do Roberto: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o próximo passo ("Agendar consulta"), os exames preventivos e as metas. Nada sobre doença.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o-tela-medica"/>
          <p:cNvSpPr/>
          <p:nvPr/>
        </p:nvSpPr>
        <p:spPr>
          <a:xfrm>
            <a:off x="457200" y="914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</a:rPr>
              <a:t>TELA DA MÉDICA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Três pacientes, três histórias</a:t>
            </a:r>
            <a:endParaRPr lang="en-US" sz="3400" dirty="0"/>
          </a:p>
        </p:txBody>
      </p:sp>
      <p:sp>
        <p:nvSpPr>
          <p:cNvPr id="5" name="paciente-1"/>
          <p:cNvSpPr/>
          <p:nvPr/>
        </p:nvSpPr>
        <p:spPr>
          <a:xfrm>
            <a:off x="457200" y="1280160"/>
            <a:ext cx="3520440" cy="4892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Roberto Alves, 63</a:t>
            </a:r>
            <a:endParaRPr lang="en-US" sz="2000" dirty="0"/>
          </a:p>
        </p:txBody>
      </p:sp>
      <p:sp>
        <p:nvSpPr>
          <p:cNvPr id="7" name="nivel-paciente-1"/>
          <p:cNvSpPr/>
          <p:nvPr/>
        </p:nvSpPr>
        <p:spPr>
          <a:xfrm>
            <a:off x="685800" y="20116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</a:rPr>
              <a:t>COLORRETAL · INVESTIGAR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OS DADOS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Balança: −9,5% do peso em 90 dias. Anemia (Hb 10,9). FIT positivo.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576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A IA RECOMENDA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Colonoscopia e consulta. TC de pulmão de baixa dose.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 QUE DEMONSTRA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Pulseira, exames e sintomas somando evidência.</a:t>
            </a:r>
            <a:endParaRPr lang="en-US" sz="1100" dirty="0"/>
          </a:p>
        </p:txBody>
      </p:sp>
      <p:sp>
        <p:nvSpPr>
          <p:cNvPr id="12" name="paciente-2"/>
          <p:cNvSpPr/>
          <p:nvPr/>
        </p:nvSpPr>
        <p:spPr>
          <a:xfrm>
            <a:off x="4320540" y="1280160"/>
            <a:ext cx="3520440" cy="4892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4914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 Azevedo, 34</a:t>
            </a:r>
            <a:endParaRPr lang="en-US" sz="2000" dirty="0"/>
          </a:p>
        </p:txBody>
      </p:sp>
      <p:sp>
        <p:nvSpPr>
          <p:cNvPr id="14" name="nivel-paciente-2"/>
          <p:cNvSpPr/>
          <p:nvPr/>
        </p:nvSpPr>
        <p:spPr>
          <a:xfrm>
            <a:off x="4549140" y="20116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4914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45309"/>
                </a:solidFill>
              </a:rPr>
              <a:t>MAMA · ATENÇÃO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914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OS DADOS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Mãe teve câncer de mama aos 41. Preventivo atrasado.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49140" y="36576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A IA RECOMENDA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2,2× a média (~1 em 1.000): mamografia a partir dos 31, se o risco alto for confirmado. Teste de DNA-HPV.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4914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 QUE DEMONSTRA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O plano de exames muda pela família, mesmo com risco baixo.</a:t>
            </a:r>
            <a:endParaRPr lang="en-US" sz="1100" dirty="0"/>
          </a:p>
        </p:txBody>
      </p:sp>
      <p:sp>
        <p:nvSpPr>
          <p:cNvPr id="19" name="paciente-3"/>
          <p:cNvSpPr/>
          <p:nvPr/>
        </p:nvSpPr>
        <p:spPr>
          <a:xfrm>
            <a:off x="8183880" y="1280160"/>
            <a:ext cx="3520440" cy="48920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1508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Carlos, 58</a:t>
            </a:r>
            <a:endParaRPr lang="en-US" sz="2000" dirty="0"/>
          </a:p>
        </p:txBody>
      </p:sp>
      <p:sp>
        <p:nvSpPr>
          <p:cNvPr id="21" name="nivel-paciente-3"/>
          <p:cNvSpPr/>
          <p:nvPr/>
        </p:nvSpPr>
        <p:spPr>
          <a:xfrm>
            <a:off x="8412480" y="20116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12480" y="2011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15803D"/>
                </a:solidFill>
              </a:rPr>
              <a:t>CÂNCER · ROTINA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26060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OS DADOS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STOP-Bang 6 (alto) e FINDRISC 23 (muito alto). Nenhum sinal de câncer.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365760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A IA RECOMENDA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FIT pela idade (50–75). PSA: conversar com o médico.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12480" y="502920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spc="100" kern="0" dirty="0">
                <a:solidFill>
                  <a:srgbClr val="475569"/>
                </a:solidFill>
              </a:rPr>
              <a:t>O QUE DEMONSTRA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0F172A"/>
                </a:solidFill>
              </a:rPr>
              <a:t>Escores crônicos altos sem alarme de câncer. No app dele: "Agendar consulta".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lo-tela-medica"/>
          <p:cNvSpPr/>
          <p:nvPr/>
        </p:nvSpPr>
        <p:spPr>
          <a:xfrm>
            <a:off x="457200" y="914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6F7F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</a:rPr>
              <a:t>TELA DA MÉDICA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Base da IA: os números foram para o banco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667512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1188720"/>
                <a:gridCol w="731520"/>
                <a:gridCol w="1691640"/>
                <a:gridCol w="640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Pista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Câncer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LR+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Fonte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F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Sangue oculto nas fezes (FIT)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Colorretal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13,2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Lee 2014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Sangramento retal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Colorretal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10,1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Hamilton 2005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Nódulo na mama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Mama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55,1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Walker 2014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Hemoptise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Pulmão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13,3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Hamilton 2009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Tosse &gt; 3 semanas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Pulmão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1,6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Haastrup 2020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E3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Cada número tem fonte, população e grau de confiança (A, B ou C). Os de grau C ficam marcados para a médica revisar.</a:t>
            </a:r>
            <a:endParaRPr lang="en-US" sz="1400" dirty="0"/>
          </a:p>
        </p:txBody>
      </p:sp>
      <p:sp>
        <p:nvSpPr>
          <p:cNvPr id="7" name="fluxo-1"/>
          <p:cNvSpPr/>
          <p:nvPr/>
        </p:nvSpPr>
        <p:spPr>
          <a:xfrm>
            <a:off x="7589520" y="1325880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fluxo-num-1"/>
          <p:cNvSpPr/>
          <p:nvPr/>
        </p:nvSpPr>
        <p:spPr>
          <a:xfrm>
            <a:off x="7726680" y="14813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75320" y="1325880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médica edita um valor</a:t>
            </a:r>
            <a:endParaRPr lang="en-US" sz="1500" dirty="0"/>
          </a:p>
        </p:txBody>
      </p:sp>
      <p:sp>
        <p:nvSpPr>
          <p:cNvPr id="11" name="fluxo-2"/>
          <p:cNvSpPr/>
          <p:nvPr/>
        </p:nvSpPr>
        <p:spPr>
          <a:xfrm>
            <a:off x="7589520" y="2221992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fluxo-num-2"/>
          <p:cNvSpPr/>
          <p:nvPr/>
        </p:nvSpPr>
        <p:spPr>
          <a:xfrm>
            <a:off x="7726680" y="23774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2668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2221992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resultado muda na hora</a:t>
            </a:r>
            <a:endParaRPr lang="en-US" sz="1500" dirty="0"/>
          </a:p>
        </p:txBody>
      </p:sp>
      <p:sp>
        <p:nvSpPr>
          <p:cNvPr id="15" name="fluxo-3"/>
          <p:cNvSpPr/>
          <p:nvPr/>
        </p:nvSpPr>
        <p:spPr>
          <a:xfrm>
            <a:off x="7589520" y="3118104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fluxo-num-3"/>
          <p:cNvSpPr/>
          <p:nvPr/>
        </p:nvSpPr>
        <p:spPr>
          <a:xfrm>
            <a:off x="7726680" y="3273552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2668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3118104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Histórico: quem, quando, de → para</a:t>
            </a:r>
            <a:endParaRPr lang="en-US" sz="1500" dirty="0"/>
          </a:p>
        </p:txBody>
      </p:sp>
      <p:sp>
        <p:nvSpPr>
          <p:cNvPr id="19" name="fluxo-4"/>
          <p:cNvSpPr/>
          <p:nvPr/>
        </p:nvSpPr>
        <p:spPr>
          <a:xfrm>
            <a:off x="7589520" y="4014216"/>
            <a:ext cx="4114800" cy="713232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fluxo-num-4"/>
          <p:cNvSpPr/>
          <p:nvPr/>
        </p:nvSpPr>
        <p:spPr>
          <a:xfrm>
            <a:off x="7726680" y="416966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2668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75320" y="4014216"/>
            <a:ext cx="3337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"Restaurar padrão" desfaz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3F7E"/>
                </a:solidFill>
              </a:rPr>
              <a:t>Qualidade: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auditoria de fontes: cada número tem fonte do nível do Guyton, e o que não tinha saiu do motor; a soma das contribuições é testada em 400 perfis; os testes rodam em Windows, macOS e Linux a cada mudança.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755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 que ele não faz, e o que vem depois</a:t>
            </a:r>
            <a:endParaRPr lang="en-US" sz="3400" dirty="0"/>
          </a:p>
        </p:txBody>
      </p:sp>
      <p:sp>
        <p:nvSpPr>
          <p:cNvPr id="3" name="col-limites"/>
          <p:cNvSpPr txBox="1"/>
          <p:nvPr/>
        </p:nvSpPr>
        <p:spPr>
          <a:xfrm>
            <a:off x="45720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Limites e ética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2880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Não é diagnóstico, e não foi calibrado com dados brasileiros.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 paciente nunca ouve doença: o risco é ferramenta da médica.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Naive Bayes supõe pistas independentes: com pistas que andam juntas, a tela mostra "≥ 20%".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Boa parte das pistas vem de estudos de atenção primária (CAPER, Reino Unido) e de meta-análises.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LGPD: o teste público não grava nada. Dado de saúde é sensível.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Produto exigiria registro na ANVISA como software dispositivo médico (RDC 657/2022).</a:t>
            </a:r>
            <a:endParaRPr lang="en-US" sz="1500" dirty="0"/>
          </a:p>
        </p:txBody>
      </p:sp>
      <p:sp>
        <p:nvSpPr>
          <p:cNvPr id="5" name="col-proximos"/>
          <p:cNvSpPr txBox="1"/>
          <p:nvPr/>
        </p:nvSpPr>
        <p:spPr>
          <a:xfrm>
            <a:off x="4937760" y="1325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Próximos passos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828800"/>
            <a:ext cx="3291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Calibrar com prontuários anonimizados, com aprovação ética.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Modelar pistas correlacionadas.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Validação clínica prospectiva.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Recolocar crônicas que saíram (CV, arritmia, DPOC…) só com fonte do mesmo nível.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Revisão médica dos valores de confiança C.</a:t>
            </a:r>
            <a:endParaRPr lang="en-US" sz="1500" dirty="0"/>
          </a:p>
        </p:txBody>
      </p:sp>
      <p:sp>
        <p:nvSpPr>
          <p:cNvPr id="7" name="cartao-qr"/>
          <p:cNvSpPr/>
          <p:nvPr/>
        </p:nvSpPr>
        <p:spPr>
          <a:xfrm>
            <a:off x="8641080" y="1325880"/>
            <a:ext cx="3063240" cy="4709160"/>
          </a:xfrm>
          <a:prstGeom prst="roundRect">
            <a:avLst>
              <a:gd name="adj" fmla="val 4478"/>
            </a:avLst>
          </a:prstGeom>
          <a:solidFill>
            <a:schemeClr val="bg1"/>
          </a:solidFill>
          <a:ln/>
        </p:spPr>
      </p:sp>
      <p:pic>
        <p:nvPicPr>
          <p:cNvPr id="8" name="Image 0" descr="QR code para https://healthinpulse.onrender.com/te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508760"/>
            <a:ext cx="2606040" cy="2606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869680" y="42062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Faça o teste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4663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 minutos · sem cadastro · nada é gravado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52578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healthinpulse.onrender.com/teste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4E3F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InPulse">
  <a:themeElements>
    <a:clrScheme name="HealthInPulse">
      <a:dk1>
        <a:srgbClr val="0F172A"/>
      </a:dk1>
      <a:lt1>
        <a:srgbClr val="FFFFFF"/>
      </a:lt1>
      <a:dk2>
        <a:srgbClr val="003F7E"/>
      </a:dk2>
      <a:lt2>
        <a:srgbClr val="F7F9FC"/>
      </a:lt2>
      <a:accent1>
        <a:srgbClr val="00A0DC"/>
      </a:accent1>
      <a:accent2>
        <a:srgbClr val="16A34A"/>
      </a:accent2>
      <a:accent3>
        <a:srgbClr val="B45309"/>
      </a:accent3>
      <a:accent4>
        <a:srgbClr val="C2410C"/>
      </a:accent4>
      <a:accent5>
        <a:srgbClr val="475569"/>
      </a:accent5>
      <a:accent6>
        <a:srgbClr val="D4E3F1"/>
      </a:accent6>
      <a:hlink>
        <a:srgbClr val="0E5193"/>
      </a:hlink>
      <a:folHlink>
        <a:srgbClr val="5388BE"/>
      </a:folHlink>
    </a:clrScheme>
    <a:fontScheme name="HealthInPul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FIAP x Care Plus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HealthInPulse v8 · feira 24/10/2026</dc:title>
  <dc:subject>PptxGenJS Presentation</dc:subject>
  <dc:creator>Equipe HealthInPulse</dc:creator>
  <cp:lastModifiedBy>Equipe HealthInPulse</cp:lastModifiedBy>
  <cp:revision>1</cp:revision>
  <dcterms:created xsi:type="dcterms:W3CDTF">2026-10-22T19:54:19Z</dcterms:created>
  <dcterms:modified xsi:type="dcterms:W3CDTF">2026-10-22T19:54:19Z</dcterms:modified>
</cp:coreProperties>
</file>